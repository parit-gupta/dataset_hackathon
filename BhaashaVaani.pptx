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5" r:id="rId10"/>
  </p:sldIdLst>
  <p:sldSz cx="18288000" cy="10287000"/>
  <p:notesSz cx="6858000" cy="9144000"/>
  <p:embeddedFontLst>
    <p:embeddedFont>
      <p:font typeface="Libre Franklin Bold" panose="020B0604020202020204" charset="0"/>
      <p:regular r:id="rId11"/>
    </p:embeddedFont>
    <p:embeddedFont>
      <p:font typeface="Montserrat" panose="00000500000000000000" pitchFamily="2" charset="0"/>
      <p:regular r:id="rId12"/>
      <p:bold r:id="rId13"/>
    </p:embeddedFont>
    <p:embeddedFont>
      <p:font typeface="Playfair Display Bold" panose="020B0604020202020204" charset="0"/>
      <p:regular r:id="rId14"/>
    </p:embeddedFont>
    <p:embeddedFont>
      <p:font typeface="Source Serif Pro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9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BHASHAVANI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7200" y="8066910"/>
            <a:ext cx="800100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</a:t>
            </a:r>
            <a:r>
              <a:rPr lang="en-US" sz="4500" b="1" dirty="0" err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ctrl+alt+elite</a:t>
            </a:r>
            <a:endParaRPr lang="en-US" sz="4500" b="1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497980-64B0-F671-38B0-6A319170CB6E}"/>
              </a:ext>
            </a:extLst>
          </p:cNvPr>
          <p:cNvSpPr txBox="1"/>
          <p:nvPr/>
        </p:nvSpPr>
        <p:spPr>
          <a:xfrm>
            <a:off x="9144000" y="6008776"/>
            <a:ext cx="9724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Transparent, clinician-aligned speech assessment using ASR, rule-based scoring, and Explainable AI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“PROBLEM STATEMENT”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81A18D-822F-A708-E1DE-4BFEA5982211}"/>
              </a:ext>
            </a:extLst>
          </p:cNvPr>
          <p:cNvSpPr txBox="1"/>
          <p:nvPr/>
        </p:nvSpPr>
        <p:spPr>
          <a:xfrm>
            <a:off x="3583709" y="5566887"/>
            <a:ext cx="11125200" cy="2780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“Multilingual Speech-Language Assessment Platform with Automated ASR </a:t>
            </a:r>
          </a:p>
          <a:p>
            <a:pPr algn="ctr">
              <a:lnSpc>
                <a:spcPts val="7300"/>
              </a:lnSpc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Scoring &amp; Therapy Authoring Tools 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9833" y="117006"/>
            <a:ext cx="5457625" cy="11862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400" y="1290528"/>
            <a:ext cx="17526000" cy="643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3600" b="1" u="sng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OUR SOLUTION: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“A speech-language assessment platform for pronunciation practice” 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Mentor-authored assessments using predefined word set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Automated speech-to-text using ASR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 Rule-based pronunciation scoring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Explainable AI generates learner-friendly summaries</a:t>
            </a:r>
          </a:p>
          <a:p>
            <a:pPr marL="571500" indent="-571500">
              <a:lnSpc>
                <a:spcPts val="73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Supports Indian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0" y="150665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8151" y="1546735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“INNOVATION &amp; USP”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0B39A-18E1-7BEF-0067-F6E0A87110C0}"/>
              </a:ext>
            </a:extLst>
          </p:cNvPr>
          <p:cNvSpPr txBox="1"/>
          <p:nvPr/>
        </p:nvSpPr>
        <p:spPr>
          <a:xfrm>
            <a:off x="533400" y="2749933"/>
            <a:ext cx="12496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chemeClr val="bg1"/>
                </a:solidFill>
              </a:rPr>
              <a:t>1. Explainable AI (Key USP)</a:t>
            </a:r>
            <a:endParaRPr lang="en-IN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Phoneme-level error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AI-generated summaries instead of black-box scores</a:t>
            </a:r>
          </a:p>
          <a:p>
            <a:pPr>
              <a:buNone/>
            </a:pPr>
            <a:r>
              <a:rPr lang="en-IN" sz="3600" b="1" dirty="0">
                <a:solidFill>
                  <a:schemeClr val="bg1"/>
                </a:solidFill>
              </a:rPr>
              <a:t>2. Mentor-Authored Assessments</a:t>
            </a:r>
            <a:endParaRPr lang="en-IN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Assessments created using structured JSON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No coding required to add or modify content</a:t>
            </a:r>
          </a:p>
          <a:p>
            <a:pPr>
              <a:buNone/>
            </a:pPr>
            <a:r>
              <a:rPr lang="en-IN" sz="3600" b="1" dirty="0">
                <a:solidFill>
                  <a:schemeClr val="bg1"/>
                </a:solidFill>
              </a:rPr>
              <a:t>3. Clinically Aligned Design</a:t>
            </a:r>
            <a:endParaRPr lang="en-IN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Mirrors real speech-therapy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Generates sample summaries / SOAP-style feedback</a:t>
            </a:r>
          </a:p>
          <a:p>
            <a:pPr>
              <a:buNone/>
            </a:pPr>
            <a:r>
              <a:rPr lang="en-IN" sz="3600" b="1" dirty="0">
                <a:solidFill>
                  <a:schemeClr val="bg1"/>
                </a:solidFill>
              </a:rPr>
              <a:t>4. Hackathon-Safe &amp; Scalable</a:t>
            </a:r>
            <a:endParaRPr lang="en-IN" sz="36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Lightweight prototype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Easily extendable to full teletherapy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9312" y="2214213"/>
            <a:ext cx="13807688" cy="828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WORKFLOW DIAGRAM WITH TECH STACK: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C4A3505-1F66-0649-0F32-3D02E82CDD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12" y="3302134"/>
            <a:ext cx="8949498" cy="67258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98BBA2-DA9D-B3F3-06C3-CC2D1064B665}"/>
              </a:ext>
            </a:extLst>
          </p:cNvPr>
          <p:cNvSpPr txBox="1"/>
          <p:nvPr/>
        </p:nvSpPr>
        <p:spPr>
          <a:xfrm>
            <a:off x="9982200" y="3467100"/>
            <a:ext cx="7391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UI</a:t>
            </a:r>
            <a:r>
              <a:rPr lang="en-US" alt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: </a:t>
            </a:r>
            <a:r>
              <a:rPr lang="en-US" altLang="en-US" sz="3200" dirty="0" err="1">
                <a:solidFill>
                  <a:schemeClr val="bg1"/>
                </a:solidFill>
                <a:latin typeface="Montserrat" panose="00000500000000000000" pitchFamily="2" charset="0"/>
              </a:rPr>
              <a:t>Streamlit</a:t>
            </a:r>
            <a:endParaRPr lang="en-US" alt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ASR</a:t>
            </a:r>
            <a:r>
              <a:rPr lang="en-US" alt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: Whisper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Scoring</a:t>
            </a:r>
            <a:r>
              <a:rPr lang="en-US" alt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: Rule-based logic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Explainable AI</a:t>
            </a:r>
            <a:r>
              <a:rPr lang="en-US" alt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: RAG + LLM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Data</a:t>
            </a:r>
            <a:r>
              <a:rPr lang="en-US" alt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: JSON (assessments), local storage</a:t>
            </a:r>
          </a:p>
          <a:p>
            <a:endParaRPr lang="en-IN" sz="32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E94A-4EE6-5E5A-85A2-E3D10050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2C9A9D5-D95B-BF14-9436-35C174FCDB7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D7A6CFF-44B3-6C1C-B07D-B0D798992BDA}"/>
              </a:ext>
            </a:extLst>
          </p:cNvPr>
          <p:cNvGrpSpPr/>
          <p:nvPr/>
        </p:nvGrpSpPr>
        <p:grpSpPr>
          <a:xfrm>
            <a:off x="11582400" y="85504"/>
            <a:ext cx="6524565" cy="1310558"/>
            <a:chOff x="0" y="0"/>
            <a:chExt cx="986902" cy="19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689346-4DDE-E4E8-A911-9621FE80A83F}"/>
                </a:ext>
              </a:extLst>
            </p:cNvPr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0CF7BF9-001E-DD72-3BD9-0EAD7508AE6C}"/>
                </a:ext>
              </a:extLst>
            </p:cNvPr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CE16FE4-869D-C085-0F9D-DBDCF7C77B8D}"/>
              </a:ext>
            </a:extLst>
          </p:cNvPr>
          <p:cNvGrpSpPr/>
          <p:nvPr/>
        </p:nvGrpSpPr>
        <p:grpSpPr>
          <a:xfrm>
            <a:off x="14821313" y="138609"/>
            <a:ext cx="1318423" cy="1204347"/>
            <a:chOff x="0" y="0"/>
            <a:chExt cx="1757897" cy="160579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B780C9-69C6-62BD-8EAC-119292CA3A76}"/>
                </a:ext>
              </a:extLst>
            </p:cNvPr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2AFAE27-E0BB-2D8E-79BD-9B5F40569EDF}"/>
                </a:ext>
              </a:extLst>
            </p:cNvPr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47464F8-D857-7E79-53F9-79D5990C8731}"/>
              </a:ext>
            </a:extLst>
          </p:cNvPr>
          <p:cNvGrpSpPr/>
          <p:nvPr/>
        </p:nvGrpSpPr>
        <p:grpSpPr>
          <a:xfrm>
            <a:off x="16431627" y="245906"/>
            <a:ext cx="989755" cy="989755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736E88E-142A-2FBF-1E21-364148D714D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9F655DE-3FC7-207D-CAFA-DB4991014C53}"/>
              </a:ext>
            </a:extLst>
          </p:cNvPr>
          <p:cNvSpPr/>
          <p:nvPr/>
        </p:nvSpPr>
        <p:spPr>
          <a:xfrm>
            <a:off x="12088762" y="286879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6312B97-0FE3-89D1-AAB1-4923609F7A5F}"/>
              </a:ext>
            </a:extLst>
          </p:cNvPr>
          <p:cNvSpPr txBox="1"/>
          <p:nvPr/>
        </p:nvSpPr>
        <p:spPr>
          <a:xfrm>
            <a:off x="-580549" y="-164325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54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480A7C6-4E18-909C-B720-3839AEFD2BDE}"/>
              </a:ext>
            </a:extLst>
          </p:cNvPr>
          <p:cNvSpPr txBox="1"/>
          <p:nvPr/>
        </p:nvSpPr>
        <p:spPr>
          <a:xfrm>
            <a:off x="293550" y="832414"/>
            <a:ext cx="12652043" cy="854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4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Sequential Diagram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024EE2-1412-A007-BCA3-22D2E32EF5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684557"/>
            <a:ext cx="8534400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9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21FD-EB5B-9155-D0BA-28E6C4983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E892CF5-3D28-52FC-41D6-2E83C0327E9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498698C-DCA7-3B1C-9930-BC0C7ACDB03E}"/>
              </a:ext>
            </a:extLst>
          </p:cNvPr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7E35E4B-7CAC-1487-7219-93D5B8E79DBC}"/>
                </a:ext>
              </a:extLst>
            </p:cNvPr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9E65B1A-D97D-F186-F246-E2B1581822FD}"/>
                </a:ext>
              </a:extLst>
            </p:cNvPr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E673FD-B347-DBA8-B251-9C02454CD73F}"/>
              </a:ext>
            </a:extLst>
          </p:cNvPr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D45A861-6B8A-7D7D-181F-43A22B161EB5}"/>
                </a:ext>
              </a:extLst>
            </p:cNvPr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AD52E4-2989-6744-9575-373282E9EDAC}"/>
                </a:ext>
              </a:extLst>
            </p:cNvPr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3830F87-E316-9E58-EDA7-AA7F87C935F6}"/>
              </a:ext>
            </a:extLst>
          </p:cNvPr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C55C46A-2252-CEFB-E07E-AAFE912AB2E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186D7EE0-4173-9ED7-9992-ECEFB62F915F}"/>
              </a:ext>
            </a:extLst>
          </p:cNvPr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48585D9-08C6-3DB9-EA28-5A796038C6FE}"/>
              </a:ext>
            </a:extLst>
          </p:cNvPr>
          <p:cNvSpPr txBox="1"/>
          <p:nvPr/>
        </p:nvSpPr>
        <p:spPr>
          <a:xfrm>
            <a:off x="0" y="150665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DB07D09-EFA2-B917-2867-EE2E12C2CAB5}"/>
              </a:ext>
            </a:extLst>
          </p:cNvPr>
          <p:cNvSpPr txBox="1"/>
          <p:nvPr/>
        </p:nvSpPr>
        <p:spPr>
          <a:xfrm>
            <a:off x="494966" y="2221917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3A1AD-A077-F60D-EDB3-526AAA5605E6}"/>
              </a:ext>
            </a:extLst>
          </p:cNvPr>
          <p:cNvSpPr txBox="1"/>
          <p:nvPr/>
        </p:nvSpPr>
        <p:spPr>
          <a:xfrm>
            <a:off x="494966" y="3660152"/>
            <a:ext cx="12496800" cy="4604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  <a:latin typeface="Montserrat" panose="00000500000000000000" pitchFamily="2" charset="0"/>
              </a:rPr>
              <a:t>Multi-language pronunciation assessment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  <a:latin typeface="Montserrat" panose="00000500000000000000" pitchFamily="2" charset="0"/>
              </a:rPr>
              <a:t>Accent-aware ASR fine-tuning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  <a:latin typeface="Montserrat" panose="00000500000000000000" pitchFamily="2" charset="0"/>
              </a:rPr>
              <a:t>Sentence &amp; image-based tasks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  <a:latin typeface="Montserrat" panose="00000500000000000000" pitchFamily="2" charset="0"/>
              </a:rPr>
              <a:t>Therapist &amp; parent dashboards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  <a:latin typeface="Montserrat" panose="00000500000000000000" pitchFamily="2" charset="0"/>
              </a:rPr>
              <a:t>Teletherapy integration</a:t>
            </a:r>
          </a:p>
        </p:txBody>
      </p:sp>
    </p:spTree>
    <p:extLst>
      <p:ext uri="{BB962C8B-B14F-4D97-AF65-F5344CB8AC3E}">
        <p14:creationId xmlns:p14="http://schemas.microsoft.com/office/powerpoint/2010/main" val="186946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210D-C788-631C-B475-8FDDE93EF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F80A3B-7419-5AAD-638B-92D84E776B8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100FEA1-AB90-7644-E387-3323CFD7482C}"/>
              </a:ext>
            </a:extLst>
          </p:cNvPr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3692616-540E-3BE3-C5BE-4DD435C81362}"/>
                </a:ext>
              </a:extLst>
            </p:cNvPr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F007037-95BB-BF4E-B007-47F08196F2B2}"/>
                </a:ext>
              </a:extLst>
            </p:cNvPr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5248EB8-516C-E8CE-A513-E3EB6CC1765F}"/>
              </a:ext>
            </a:extLst>
          </p:cNvPr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321B0FA-8DE7-7BAB-070A-4F6F7559FAAB}"/>
                </a:ext>
              </a:extLst>
            </p:cNvPr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C629380-824B-7DB7-D944-E0C6C5F163F0}"/>
                </a:ext>
              </a:extLst>
            </p:cNvPr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4C6B662-2D12-9382-C9AD-2561E0E0D621}"/>
              </a:ext>
            </a:extLst>
          </p:cNvPr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5E1F90-C907-8F41-9355-C05C7184A2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62270BF-B407-D691-17FF-0E874D1897E5}"/>
              </a:ext>
            </a:extLst>
          </p:cNvPr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58F477C-8B1E-3045-58D2-FE295211DBBD}"/>
              </a:ext>
            </a:extLst>
          </p:cNvPr>
          <p:cNvSpPr txBox="1"/>
          <p:nvPr/>
        </p:nvSpPr>
        <p:spPr>
          <a:xfrm>
            <a:off x="0" y="150665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9164F4-B00B-3004-722C-209210D1C650}"/>
              </a:ext>
            </a:extLst>
          </p:cNvPr>
          <p:cNvSpPr txBox="1"/>
          <p:nvPr/>
        </p:nvSpPr>
        <p:spPr>
          <a:xfrm>
            <a:off x="494966" y="1814257"/>
            <a:ext cx="12652043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Key Features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0FA025-C6AA-9883-46B4-2A0E731D0571}"/>
              </a:ext>
            </a:extLst>
          </p:cNvPr>
          <p:cNvSpPr txBox="1"/>
          <p:nvPr/>
        </p:nvSpPr>
        <p:spPr>
          <a:xfrm>
            <a:off x="494966" y="3137276"/>
            <a:ext cx="124968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Explainable Pronunciation Assessment</a:t>
            </a:r>
            <a:b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Phoneme-level error detection with clear explanations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Transparent Rule-Based Scoring</a:t>
            </a:r>
            <a:b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Deterministic, auditable scoring (no black-box ML)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Responsible Generative AI (RAG)</a:t>
            </a:r>
            <a:b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AI used only for summaries &amp; SOAP-style feedback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Mentor-Authored Assessments</a:t>
            </a:r>
            <a:b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Topic-based assessments defined by mentors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  <a:latin typeface="Montserrat" panose="00000500000000000000" pitchFamily="2" charset="0"/>
              </a:rPr>
              <a:t>Multilingual-Ready Design</a:t>
            </a:r>
            <a:b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3600" dirty="0">
                <a:solidFill>
                  <a:schemeClr val="bg1"/>
                </a:solidFill>
                <a:latin typeface="Montserrat" panose="00000500000000000000" pitchFamily="2" charset="0"/>
              </a:rPr>
              <a:t>English assessment + Hindi ASR proof-of-concept</a:t>
            </a:r>
          </a:p>
        </p:txBody>
      </p:sp>
    </p:spTree>
    <p:extLst>
      <p:ext uri="{BB962C8B-B14F-4D97-AF65-F5344CB8AC3E}">
        <p14:creationId xmlns:p14="http://schemas.microsoft.com/office/powerpoint/2010/main" val="328083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97793" y="3467100"/>
            <a:ext cx="12652043" cy="3650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“Satyanarayana Karthikeya Kuna(23BAI1178)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Parit Gupta(23BAI1240)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Keshav Sharma(23BAI1165)</a:t>
            </a:r>
          </a:p>
          <a:p>
            <a:pPr algn="ctr">
              <a:lnSpc>
                <a:spcPts val="7300"/>
              </a:lnSpc>
            </a:pPr>
            <a:r>
              <a:rPr lang="en-US" sz="4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Chaitanya Singh(23BAI1435)”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300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Source Serif Pro Bold</vt:lpstr>
      <vt:lpstr>Arial</vt:lpstr>
      <vt:lpstr>Montserrat</vt:lpstr>
      <vt:lpstr>Playfair Display Bold</vt:lpstr>
      <vt:lpstr>Libre Franklin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dc:creator>Chaitanya Singh</dc:creator>
  <cp:lastModifiedBy>Chaitanya Singh</cp:lastModifiedBy>
  <cp:revision>6</cp:revision>
  <dcterms:created xsi:type="dcterms:W3CDTF">2006-08-16T00:00:00Z</dcterms:created>
  <dcterms:modified xsi:type="dcterms:W3CDTF">2025-12-19T09:23:32Z</dcterms:modified>
  <dc:identifier>DAG7o8SITjs</dc:identifier>
</cp:coreProperties>
</file>